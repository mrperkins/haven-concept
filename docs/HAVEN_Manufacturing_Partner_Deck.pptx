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B0D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83096"/>
            <a:ext cx="12191695" cy="10973"/>
          </a:xfrm>
          <a:prstGeom prst="rect">
            <a:avLst/>
          </a:prstGeom>
          <a:noFill/>
          <a:ln w="6350">
            <a:solidFill>
              <a:srgbClr val="3B41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30" spc="200" kern="0" dirty="0">
                <a:solidFill>
                  <a:srgbClr val="6B74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HAVEN  /  CONCEPT STUDIO  /  OCTOBER 2026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image" Target="../media/image-3-2.webp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AVEN_Studio_Launch/assets/p1r-detail.webp">    </p:cNvPr>
          <p:cNvPicPr>
            <a:picLocks noChangeAspect="1"/>
          </p:cNvPicPr>
          <p:nvPr/>
        </p:nvPicPr>
        <p:blipFill>
          <a:blip r:embed="rId1"/>
          <a:srcRect l="15279" r="1527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>
              <a:alpha val="56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B0D0E">
              <a:alpha val="87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731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CONCEPT ENGINEERING INQUIRY / V0.1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1417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0" b="1" spc="30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HAVEN</a:t>
            </a:r>
            <a:endParaRPr lang="en-US" sz="8100" dirty="0"/>
          </a:p>
        </p:txBody>
      </p:sp>
      <p:sp>
        <p:nvSpPr>
          <p:cNvPr id="7" name="Text 4"/>
          <p:cNvSpPr/>
          <p:nvPr/>
        </p:nvSpPr>
        <p:spPr>
          <a:xfrm>
            <a:off x="630936" y="25603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 NEW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STANDARD.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30936" y="49286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OEM architecture · controlled modularity · manufacturing feasibility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Early-stage RFI only; no purchase order, NDA, certified technical package or partner commitment.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PROGRAM 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HAVEN STANDS TODAY.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240280"/>
            <a:ext cx="3520440" cy="210312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597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30998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exterior and interior design boards; preliminary RFI briefs and cost hypotheses.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5112" y="2240280"/>
            <a:ext cx="3520440" cy="210312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24597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YET AVAILABLE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35424" y="2816352"/>
            <a:ext cx="30998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CAD, donor licenses, BOM quotations, certification plan or financed production program.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19872" y="2240280"/>
            <a:ext cx="3520440" cy="210312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245973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OPPORTUNITY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30184" y="2816352"/>
            <a:ext cx="30998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define a credible donor architecture and costed prototype development path.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08406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 objective: convert design intent into a priced, engineering-led feasibility package.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MODEL FAMILIES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IDENTITY. POTENTIALLY SEPARATE UNDERPINNINGS.</a:t>
            </a:r>
            <a:endParaRPr lang="en-US" sz="4500" dirty="0"/>
          </a:p>
        </p:txBody>
      </p:sp>
      <p:pic>
        <p:nvPicPr>
          <p:cNvPr id="4" name="Image 0" descr="/mnt/data/HAVEN_Studio_Launch/assets/p1-hero.webp">    </p:cNvPr>
          <p:cNvPicPr>
            <a:picLocks noChangeAspect="1"/>
          </p:cNvPicPr>
          <p:nvPr/>
        </p:nvPicPr>
        <p:blipFill>
          <a:blip r:embed="rId1"/>
          <a:srcRect l="0" r="0" t="18415" b="18415"/>
          <a:stretch/>
        </p:blipFill>
        <p:spPr>
          <a:xfrm>
            <a:off x="530352" y="2139696"/>
            <a:ext cx="5404104" cy="2560320"/>
          </a:xfrm>
          <a:prstGeom prst="rect">
            <a:avLst/>
          </a:prstGeom>
        </p:spPr>
      </p:pic>
      <p:pic>
        <p:nvPicPr>
          <p:cNvPr id="5" name="Image 1" descr="/mnt/data/HAVEN_Studio_Launch/assets/p1r-hero.webp">    </p:cNvPr>
          <p:cNvPicPr>
            <a:picLocks noChangeAspect="1"/>
          </p:cNvPicPr>
          <p:nvPr/>
        </p:nvPicPr>
        <p:blipFill>
          <a:blip r:embed="rId2"/>
          <a:srcRect l="8858" r="8858" t="0" b="0"/>
          <a:stretch/>
        </p:blipFill>
        <p:spPr>
          <a:xfrm>
            <a:off x="6217920" y="2139696"/>
            <a:ext cx="5413248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9496" y="494690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CORE / GASOLINE FWD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36208" y="494690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P1R / PERFORMANCE GT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9496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sedan donor exploration; standard service parts and modular cabin.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36208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ICE / hybrid / EV trade study; bespoke exterior and luxury interior.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Exterior envelopes are concept sketches, not platform-approved Class-A surfaces.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P1 DONOR PLATFORM</a:t>
            </a:r>
            <a:endParaRPr lang="en-US" sz="900" dirty="0"/>
          </a:p>
        </p:txBody>
      </p:sp>
      <p:pic>
        <p:nvPicPr>
          <p:cNvPr id="3" name="Image 0" descr="/mnt/data/HAVEN_Studio_Launch/assets/p1-cutaway.webp">    </p:cNvPr>
          <p:cNvPicPr>
            <a:picLocks noChangeAspect="1"/>
          </p:cNvPicPr>
          <p:nvPr/>
        </p:nvPicPr>
        <p:blipFill>
          <a:blip r:embed="rId1"/>
          <a:srcRect l="20966" r="20966" t="0" b="0"/>
          <a:stretch/>
        </p:blipFill>
        <p:spPr>
          <a:xfrm>
            <a:off x="6199632" y="0"/>
            <a:ext cx="5989320" cy="6446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0"/>
            <a:ext cx="292608" cy="6446520"/>
          </a:xfrm>
          <a:prstGeom prst="rect">
            <a:avLst/>
          </a:prstGeom>
          <a:solidFill>
            <a:srgbClr val="0B0D0E"/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1208" y="1243584"/>
            <a:ext cx="5669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/ PROPOSED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548640" y="3282696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3127248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4-door unibody donor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776472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3621024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1.5–2.0L gasoline family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27024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114800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over restraints / ESC / major hard points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4764024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4608576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modular nonstructural interfaces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Illustrated engine, tank and wheel positions not validated. Request hard-point and crash-envelope inputs.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P1R ARCHITECTURE TRADE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HALO PERFORMANCE WITHOUT A CLEAN-SHEET BILL.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267712"/>
            <a:ext cx="3611880" cy="2340864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8716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DONOR-ICE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843784"/>
            <a:ext cx="31912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High-output, validated four-door performance vehicle; luxury body and cabin adaptation.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2267712"/>
            <a:ext cx="3611880" cy="2340864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248716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/ DONOR-EV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07992" y="2843784"/>
            <a:ext cx="31912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AWD performance EV architecture; reuse motor, pack, control and thermal systems.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4152" y="2267712"/>
            <a:ext cx="3611880" cy="2340864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248716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/ HYBRID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84464" y="2843784"/>
            <a:ext cx="31912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Performance-hybrid donor only where OEM integration and emissions support are available.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" y="513892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criteria: total cost, available IP, homologation burden, exterior freedom, service rights.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DESIGN DEVELOPMENT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SURFACES NEED PRODUCTION PHYSICS.</a:t>
            </a:r>
            <a:endParaRPr lang="en-US" sz="4500" dirty="0"/>
          </a:p>
        </p:txBody>
      </p:sp>
      <p:pic>
        <p:nvPicPr>
          <p:cNvPr id="4" name="Image 0" descr="/mnt/data/HAVEN_Studio_Launch/assets/p1-sketches.webp">    </p:cNvPr>
          <p:cNvPicPr>
            <a:picLocks noChangeAspect="1"/>
          </p:cNvPicPr>
          <p:nvPr/>
        </p:nvPicPr>
        <p:blipFill>
          <a:blip r:embed="rId1"/>
          <a:srcRect l="0" r="0" t="2320" b="2320"/>
          <a:stretch/>
        </p:blipFill>
        <p:spPr>
          <a:xfrm>
            <a:off x="521208" y="2066544"/>
            <a:ext cx="6729984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2066544"/>
            <a:ext cx="4206240" cy="1591056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62672" y="228600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62672" y="2642616"/>
            <a:ext cx="37856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Class-A surfaces and hard-point fitting, opening lines, pedestrian and cooling impacts.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52360" y="3886200"/>
            <a:ext cx="4206240" cy="1755648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62672" y="410565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62672" y="4462272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Dimensional package, master sections, aerodynamics feasibility and costed appearance alternatives.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visual envelope may change materially once a chassis is selected.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CONTROLLED MODULARITY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OPENPARTS IS A FITMENT PROGRAM, NOT A PROMISE.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139696"/>
            <a:ext cx="11155680" cy="795528"/>
          </a:xfrm>
          <a:prstGeom prst="rect">
            <a:avLst/>
          </a:prstGeom>
          <a:solidFill>
            <a:srgbClr val="1A1D1E"/>
          </a:solidFill>
          <a:ln w="12700">
            <a:solidFill>
              <a:srgbClr val="1A1D1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30428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10128" y="2304288"/>
            <a:ext cx="8028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sizes / wipers / tire specifications / consumables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21208" y="3054096"/>
            <a:ext cx="11155680" cy="795528"/>
          </a:xfrm>
          <a:prstGeom prst="rect">
            <a:avLst/>
          </a:prstGeom>
          <a:solidFill>
            <a:srgbClr val="252A2B"/>
          </a:solidFill>
          <a:ln w="12700">
            <a:solidFill>
              <a:srgbClr val="252A2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21868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OEM FAMILY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10128" y="3218688"/>
            <a:ext cx="8028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Drivetrain service items / brake systems / steering hardware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" y="3968496"/>
            <a:ext cx="11155680" cy="795528"/>
          </a:xfrm>
          <a:prstGeom prst="rect">
            <a:avLst/>
          </a:prstGeom>
          <a:solidFill>
            <a:srgbClr val="1A1D1E"/>
          </a:solidFill>
          <a:ln w="12700">
            <a:solidFill>
              <a:srgbClr val="1A1D1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413308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HAVEN SPECIFIC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4133088"/>
            <a:ext cx="8028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Styling surfaces / fascia / signature lamp housings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1208" y="4882896"/>
            <a:ext cx="11155680" cy="795528"/>
          </a:xfrm>
          <a:prstGeom prst="rect">
            <a:avLst/>
          </a:prstGeom>
          <a:solidFill>
            <a:srgbClr val="252A2B"/>
          </a:solidFill>
          <a:ln w="12700">
            <a:solidFill>
              <a:srgbClr val="252A2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504748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5047488"/>
            <a:ext cx="8028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parts / restraints / powertrain ECU / safety gateways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automotive service information and traceable part cross-reference rights must be negotiated.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ELECTRONICS &amp; SOFTWARE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UPGRADEABILITY BEHIND A SECURE GATEWAY.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57600" cy="320040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459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CABIN ZONE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50392" y="3044952"/>
            <a:ext cx="29260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processor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/ cameras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/ audio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Owner-changeable module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80560" y="3227832"/>
            <a:ext cx="3017520" cy="777240"/>
          </a:xfrm>
          <a:prstGeom prst="rect">
            <a:avLst/>
          </a:prstGeom>
          <a:solidFill>
            <a:srgbClr val="3C3E3D"/>
          </a:solidFill>
          <a:ln w="12700">
            <a:solidFill>
              <a:srgbClr val="3C3E3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34838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VEHICLE 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148840"/>
            <a:ext cx="3840480" cy="320040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2459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ZONE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028432" y="3044952"/>
            <a:ext cx="315468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ECU / stability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ADAS / braking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Powertrain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Restraints / diagnostics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Interfaces require automotive cybersecurity, EMC and functional safety engineering. Drawing is conceptual.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UNIT TARGET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GATES DEFINE THE DESIGN.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21208" y="2148840"/>
            <a:ext cx="5422392" cy="256032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68296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724912"/>
            <a:ext cx="500176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delivered price $17,990. Current illustrative fully allocated cost $15,100; price feasibility unresolved.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2148840"/>
            <a:ext cx="5449824" cy="256032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23682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9944" y="2724912"/>
            <a:ext cx="502920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price $129,990. Illustrative low-volume unit cost $125,000; substantial redesign / scale needed.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57784" y="5193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comparable quoting at 1 prototype, 10 units, 250 units, 1,000 units and future high volume.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supplier has quoted HAVEN; thresholds are negotiation and sensitivity inputs only.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DEVELOPMENT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GEOMETRY TO DRIVABLE EVIDENCE.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2112264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81328" y="211226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 / scan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211226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 envelopes, integration choices, safety review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2825496"/>
            <a:ext cx="11100816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72384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81328" y="307238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engineering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307238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Surfaces, packaging, first-pass engineering BOM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3785616"/>
            <a:ext cx="11100816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32504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481328" y="403250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mule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03250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Intact donor drivetrain, cameras, modular cabin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0352" y="4745736"/>
            <a:ext cx="11100816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92624"/>
            <a:ext cx="640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481328" y="4992624"/>
            <a:ext cx="2926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/ next gate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499262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Calibration, reliability, costed next-stage proposal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0352" y="5705856"/>
            <a:ext cx="11100816" cy="0"/>
          </a:xfrm>
          <a:prstGeom prst="line">
            <a:avLst/>
          </a:prstGeom>
          <a:noFill/>
          <a:ln w="8890">
            <a:solidFill>
              <a:srgbClr val="3B414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PROPOSED RFI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NEED FROM YOU.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85216" y="2176272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20824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Available donor platforms, licensing rights and commercial constraints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5216" y="2779776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624328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Preliminary donor dimensional and validation data accessibility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5216" y="3383280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227832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Engineering scope, schedule, and one-off prototype fee estimate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85216" y="3986784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831336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Indicative component/tooling/assembly costs at multiple volumes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5216" y="4590288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434840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Homologation, liability, after-sales and recall responsibilities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85216" y="5193792"/>
            <a:ext cx="64008" cy="64008"/>
          </a:xfrm>
          <a:prstGeom prst="rect">
            <a:avLst/>
          </a:prstGeom>
          <a:solidFill>
            <a:srgbClr val="CDA472"/>
          </a:solidFill>
          <a:ln w="12700">
            <a:solidFill>
              <a:srgbClr val="CDA47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5038344"/>
            <a:ext cx="10762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 Service data / parts interchange / intellectual property terms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QUALIFICATION AND NEXT STEP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12064" y="103327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500" b="1" spc="-120" kern="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CONTAINED FIRST ENGAGEMENT.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530352" y="2258568"/>
            <a:ext cx="3538728" cy="24231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24780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0664" y="2834640"/>
            <a:ext cx="31181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4–6 week paid feasibility package with explicit outputs, assumptions and decision gates.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2258568"/>
            <a:ext cx="3538728" cy="24231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4780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26280" y="2834640"/>
            <a:ext cx="31181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shortlist, risk and open-issues register, high-level work breakdown and ROM quote.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1584" y="2258568"/>
            <a:ext cx="3538728" cy="2423160"/>
          </a:xfrm>
          <a:prstGeom prst="rect">
            <a:avLst/>
          </a:prstGeom>
          <a:solidFill>
            <a:srgbClr val="1C2022"/>
          </a:solidFill>
          <a:ln w="12700">
            <a:solidFill>
              <a:srgbClr val="1C202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247802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11896" y="2834640"/>
            <a:ext cx="3118104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NDA where warranted; milestone acceptance; no public statements without approval.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" y="52120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Interested parties can use this document as a nonbinding discussion brief.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contract, price, production order, commitment or procurement authority accompanies this deck.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AVEN_Studio_Launch/assets/p1-hero.webp">    </p:cNvPr>
          <p:cNvPicPr>
            <a:picLocks noChangeAspect="1"/>
          </p:cNvPicPr>
          <p:nvPr/>
        </p:nvPicPr>
        <p:blipFill>
          <a:blip r:embed="rId1"/>
          <a:srcRect l="0" r="0" t="12499" b="1249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>
              <a:alpha val="60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B0D0E">
              <a:alpha val="84000"/>
            </a:srgbClr>
          </a:solidFill>
          <a:ln w="12700">
            <a:solidFill>
              <a:srgbClr val="0B0D0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21208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40" kern="0" dirty="0">
                <a:solidFill>
                  <a:srgbClr val="CDA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/ HAVEN FOUNDER CONCEPT STUDIO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1444752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ENGINEER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2F0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ACTUALLY SHIP.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48463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E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disciplined platform-first, safety-first approach to a vehicle designed for long ownership.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0352" y="615391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EA4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direct-contact details to be supplied before external distribution.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HAVEN Concept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HAVEN | Manufacturing &amp; Engineering Partner RFI Brief</dc:title>
  <dc:subject>Preliminary automotive design and venture feasibility; no verified manufacturing program</dc:subject>
  <dc:creator>HAVEN Concept Studio</dc:creator>
  <cp:lastModifiedBy>HAVEN Concept Studio</cp:lastModifiedBy>
  <cp:revision>1</cp:revision>
  <dcterms:created xsi:type="dcterms:W3CDTF">2026-10-10T16:58:39Z</dcterms:created>
  <dcterms:modified xsi:type="dcterms:W3CDTF">2026-10-10T16:58:39Z</dcterms:modified>
</cp:coreProperties>
</file>