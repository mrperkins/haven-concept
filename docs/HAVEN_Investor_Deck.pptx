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83096"/>
            <a:ext cx="12191695" cy="10973"/>
          </a:xfrm>
          <a:prstGeom prst="rect">
            <a:avLst/>
          </a:prstGeom>
          <a:noFill/>
          <a:ln w="6350">
            <a:solidFill>
              <a:srgbClr val="3B41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B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HAVEN  /  CONCEPT STUDIO  /  OCTOBER 2026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image" Target="../media/image-3-2.webp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AVEN_Studio_Launch/assets/p1-hero.webp">    </p:cNvPr>
          <p:cNvPicPr>
            <a:picLocks noChangeAspect="1"/>
          </p:cNvPicPr>
          <p:nvPr/>
        </p:nvPicPr>
        <p:blipFill>
          <a:blip r:embed="rId1"/>
          <a:srcRect l="0" r="0" t="12499" b="1249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>
              <a:alpha val="48000"/>
            </a:srgbClr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B0D0E">
              <a:alpha val="80000"/>
            </a:srgbClr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731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CONCEPT BRIEFING / V0.1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4360" y="1353312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0" b="1" spc="30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HAVEN</a:t>
            </a:r>
            <a:endParaRPr lang="en-US" sz="8300" dirty="0"/>
          </a:p>
        </p:txBody>
      </p:sp>
      <p:sp>
        <p:nvSpPr>
          <p:cNvPr id="7" name="Text 4"/>
          <p:cNvSpPr/>
          <p:nvPr/>
        </p:nvSpPr>
        <p:spPr>
          <a:xfrm>
            <a:off x="621792" y="242316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</a:t>
            </a:r>
            <a:endParaRPr lang="en-US" sz="5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STAY.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4800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automotive design. Modular ownership.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radically different relationship with your car.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1208" y="5888736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Concept-stage proposal only. No vehicles manufactured, investment secured, supplier contracts or production approval.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CAR SHOULD IMPROVE WITH AGE.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21208" y="226771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consumer technology is upgradeable. Vehicles too often demand total replacement.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21208" y="2852928"/>
            <a:ext cx="11109960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3127248"/>
            <a:ext cx="3566160" cy="201168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4670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3145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repair cycles, costly proprietary components and inflexible feature bundles.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61104" y="3127248"/>
            <a:ext cx="3566160" cy="201168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334670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HAVEN RESPONSE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71416" y="3703320"/>
            <a:ext cx="3145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compelling standard vehicle that supports validated component reuse and modular upgrades.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01000" y="3127248"/>
            <a:ext cx="3657600" cy="201168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3346704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11312" y="3703320"/>
            <a:ext cx="32369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automotive design aspiration with a more owner-friendly value proposition.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 thesis. Consumer interviews and independent market validation are pending.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PRODUCT PORTFOLIO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PHILOSOPHY. TWO VEHICLES.</a:t>
            </a:r>
            <a:endParaRPr lang="en-US" sz="4500" dirty="0"/>
          </a:p>
        </p:txBody>
      </p:sp>
      <p:pic>
        <p:nvPicPr>
          <p:cNvPr id="4" name="Image 0" descr="/mnt/data/HAVEN_Studio_Launch/assets/p1-hero.webp">    </p:cNvPr>
          <p:cNvPicPr>
            <a:picLocks noChangeAspect="1"/>
          </p:cNvPicPr>
          <p:nvPr/>
        </p:nvPicPr>
        <p:blipFill>
          <a:blip r:embed="rId1"/>
          <a:srcRect l="0" r="0" t="20995" b="20995"/>
          <a:stretch/>
        </p:blipFill>
        <p:spPr>
          <a:xfrm>
            <a:off x="521208" y="2286000"/>
            <a:ext cx="5422392" cy="2359152"/>
          </a:xfrm>
          <a:prstGeom prst="rect">
            <a:avLst/>
          </a:prstGeom>
        </p:spPr>
      </p:pic>
      <p:pic>
        <p:nvPicPr>
          <p:cNvPr id="5" name="Image 1" descr="/mnt/data/HAVEN_Studio_Launch/assets/p1r-hero.webp">    </p:cNvPr>
          <p:cNvPicPr>
            <a:picLocks noChangeAspect="1"/>
          </p:cNvPicPr>
          <p:nvPr/>
        </p:nvPicPr>
        <p:blipFill>
          <a:blip r:embed="rId2"/>
          <a:srcRect l="5274" r="5274" t="0" b="0"/>
          <a:stretch/>
        </p:blipFill>
        <p:spPr>
          <a:xfrm>
            <a:off x="6236208" y="2286000"/>
            <a:ext cx="5422392" cy="23591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9496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 /  CORE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26364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P1R  /  FOUNDER'S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39496" y="536752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$17,990 delivered target  /  everyday sports sedan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263640" y="536752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$129,990 target  /  limited halo GT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and volume goals are not validated. Models may require unrelated structural platforms.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THE P1</a:t>
            </a:r>
            <a:endParaRPr lang="en-US" sz="900" dirty="0"/>
          </a:p>
        </p:txBody>
      </p:sp>
      <p:pic>
        <p:nvPicPr>
          <p:cNvPr id="3" name="Image 0" descr="/mnt/data/HAVEN_Studio_Launch/assets/p1-hero.webp">    </p:cNvPr>
          <p:cNvPicPr>
            <a:picLocks noChangeAspect="1"/>
          </p:cNvPicPr>
          <p:nvPr/>
        </p:nvPicPr>
        <p:blipFill>
          <a:blip r:embed="rId1"/>
          <a:srcRect l="15160" r="15160" t="0" b="0"/>
          <a:stretch/>
        </p:blipFill>
        <p:spPr>
          <a:xfrm>
            <a:off x="6199632" y="0"/>
            <a:ext cx="5989320" cy="6446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0"/>
            <a:ext cx="292608" cy="6446520"/>
          </a:xfrm>
          <a:prstGeom prst="rect">
            <a:avLst/>
          </a:prstGeom>
          <a:solidFill>
            <a:srgbClr val="0B0D0E"/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1115568"/>
            <a:ext cx="5486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9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CAR.</a:t>
            </a:r>
            <a:endParaRPr lang="en-US" sz="3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9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OWNERSHIP</a:t>
            </a:r>
            <a:endParaRPr lang="en-US" sz="3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9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PHILOSOPHY.</a:t>
            </a:r>
            <a:endParaRPr lang="en-US" sz="3900" dirty="0"/>
          </a:p>
        </p:txBody>
      </p:sp>
      <p:sp>
        <p:nvSpPr>
          <p:cNvPr id="6" name="Shape 3"/>
          <p:cNvSpPr/>
          <p:nvPr/>
        </p:nvSpPr>
        <p:spPr>
          <a:xfrm>
            <a:off x="566928" y="3813048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657600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doors; daily practicality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4334256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178808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camera and offline voice targets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6928" y="4855464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700016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parts / documented repair concept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gasoline-first architecture. Donor platform and physical dimensions not selected.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THE P1R</a:t>
            </a:r>
            <a:endParaRPr lang="en-US" sz="900" dirty="0"/>
          </a:p>
        </p:txBody>
      </p:sp>
      <p:pic>
        <p:nvPicPr>
          <p:cNvPr id="3" name="Image 0" descr="/mnt/data/HAVEN_Studio_Launch/assets/p1r-detail.webp">    </p:cNvPr>
          <p:cNvPicPr>
            <a:picLocks noChangeAspect="1"/>
          </p:cNvPicPr>
          <p:nvPr/>
        </p:nvPicPr>
        <p:blipFill>
          <a:blip r:embed="rId1"/>
          <a:srcRect l="31854" r="31854" t="0" b="0"/>
          <a:stretch/>
        </p:blipFill>
        <p:spPr>
          <a:xfrm>
            <a:off x="6199632" y="0"/>
            <a:ext cx="5989320" cy="6446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0"/>
            <a:ext cx="292608" cy="6446520"/>
          </a:xfrm>
          <a:prstGeom prst="rect">
            <a:avLst/>
          </a:prstGeom>
          <a:solidFill>
            <a:srgbClr val="0B0D0E"/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1115568"/>
            <a:ext cx="5486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HALO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MAKES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566928" y="3904488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749040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Distinctive, low-volume grand tourer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4425696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270248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Luxury materials and custom commissions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6928" y="4946904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791456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architecture: EV vs ICE under study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validated horsepower, acceleration, range or production cost; donor selection pending.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OPENARCHITECTURE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CORE. UPGRADE THE EXPERIENCE.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21208" y="2404872"/>
            <a:ext cx="5340096" cy="1271016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06040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35608" y="2569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35608" y="309981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Nonstructural fascia / wraps / trims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44768" y="2404872"/>
            <a:ext cx="5340096" cy="1271016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606040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059168" y="2569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059168" y="309981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cockpit processing / screens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" y="3886200"/>
            <a:ext cx="5340096" cy="1271016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8736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35608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CABIN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35608" y="45811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Upholstery / accessories / audio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4768" y="3886200"/>
            <a:ext cx="5340096" cy="1271016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08736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059168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059168" y="45811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common parts / fitment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" y="5596128"/>
            <a:ext cx="11064240" cy="320040"/>
          </a:xfrm>
          <a:prstGeom prst="rect">
            <a:avLst/>
          </a:prstGeom>
          <a:solidFill>
            <a:srgbClr val="2A2D2D"/>
          </a:solidFill>
          <a:ln w="12700">
            <a:solidFill>
              <a:srgbClr val="2A2D2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566013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Safety-critical structure, brakes, emissions, steering and restraints require controlled validation and approvals.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DESIGNED FOR PERSONALIZATION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VEHICLE THAT CHANGES WITH ITS OWNER.</a:t>
            </a:r>
            <a:endParaRPr lang="en-US" sz="4500" dirty="0"/>
          </a:p>
        </p:txBody>
      </p:sp>
      <p:pic>
        <p:nvPicPr>
          <p:cNvPr id="4" name="Image 0" descr="/mnt/data/HAVEN_Studio_Launch/assets/p1-sketches.webp">    </p:cNvPr>
          <p:cNvPicPr>
            <a:picLocks noChangeAspect="1"/>
          </p:cNvPicPr>
          <p:nvPr/>
        </p:nvPicPr>
        <p:blipFill>
          <a:blip r:embed="rId1"/>
          <a:srcRect l="0" r="0" t="3145" b="3145"/>
          <a:stretch/>
        </p:blipFill>
        <p:spPr>
          <a:xfrm>
            <a:off x="521208" y="2148840"/>
            <a:ext cx="667512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2148840"/>
            <a:ext cx="4297680" cy="109728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71232" y="23682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PURCHASE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71232" y="272491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Colors, trim, seating materials and appearance packages.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60920" y="3429000"/>
            <a:ext cx="4297680" cy="109728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1232" y="364845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 TIME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71232" y="400507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Audio, compute upgrades, approved wheels and removable accessory panels.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60920" y="4709160"/>
            <a:ext cx="4297680" cy="109728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71232" y="492861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71232" y="528523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repair info, replacement parts registry and independent-shop compatibility.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programs; interface and installation validation required.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BUSINESS MODEL HYPOTHESES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THAT RESPECTS OWNERSHIP.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21208" y="2331720"/>
            <a:ext cx="3566160" cy="219456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511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MARGIN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907792"/>
            <a:ext cx="31455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or compliant low-overhead sales and distribution partners.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61104" y="2331720"/>
            <a:ext cx="3566160" cy="219456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1416" y="25511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UPGRADES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71416" y="2907792"/>
            <a:ext cx="31455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Genuine accessories, validated third-party parts and optional features.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01000" y="2331720"/>
            <a:ext cx="3657600" cy="219456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25511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ECOSYSTEM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11312" y="2907792"/>
            <a:ext cx="32369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Partner-supported parts registry, servicing and licensed accessory programs.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" y="51572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subscription lockout for installed essential functions.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Hypotheses only: no orders, customers, active sales network or manufacturer agreements.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ILLUSTRATIVE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DISCIPLINE. NOT WISHFUL MARGINS.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21208" y="2212848"/>
            <a:ext cx="5449824" cy="333756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68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CORE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3035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price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32841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$17,990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3756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33284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$15,100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77240" y="4069080"/>
            <a:ext cx="4892040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616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MODELLED VEHICLE MARGIN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681728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16.1%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6172200" y="2212848"/>
            <a:ext cx="5449824" cy="333756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468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28232" y="3035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price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8232" y="332841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$129,990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988552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cost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88552" y="33284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$125,000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428232" y="4069080"/>
            <a:ext cx="4892040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43616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MODELLED VEHICLE MARGIN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28232" y="4681728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65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Unquoted scenario assumptions; P1 below 20% goal and P1R well below a sustainable halo target. Validation and redesign are required.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DE-RISKED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 THE RIGHT TO SPEND.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21208" y="2249424"/>
            <a:ext cx="2651760" cy="3383280"/>
          </a:xfrm>
          <a:prstGeom prst="rect">
            <a:avLst/>
          </a:prstGeom>
          <a:solidFill>
            <a:srgbClr val="1B1F20"/>
          </a:solidFill>
          <a:ln w="12700">
            <a:solidFill>
              <a:srgbClr val="1B1F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2542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22376" y="33192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22376" y="4023360"/>
            <a:ext cx="22128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studies / founder charter / discovery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2249424"/>
            <a:ext cx="2651760" cy="3383280"/>
          </a:xfrm>
          <a:prstGeom prst="rect">
            <a:avLst/>
          </a:prstGeom>
          <a:solidFill>
            <a:srgbClr val="272B2B"/>
          </a:solidFill>
          <a:ln w="12700">
            <a:solidFill>
              <a:srgbClr val="272B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2542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538728" y="33192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38728" y="4023360"/>
            <a:ext cx="22128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+ dual camera tech prototype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53912" y="2249424"/>
            <a:ext cx="2651760" cy="3383280"/>
          </a:xfrm>
          <a:prstGeom prst="rect">
            <a:avLst/>
          </a:prstGeom>
          <a:solidFill>
            <a:srgbClr val="1B1F20"/>
          </a:solidFill>
          <a:ln w="12700">
            <a:solidFill>
              <a:srgbClr val="1B1F2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542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355080" y="33192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55080" y="4023360"/>
            <a:ext cx="22128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Drivable donor-based P1 demonstrator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70264" y="2249424"/>
            <a:ext cx="2651760" cy="3383280"/>
          </a:xfrm>
          <a:prstGeom prst="rect">
            <a:avLst/>
          </a:prstGeom>
          <a:solidFill>
            <a:srgbClr val="272B2B"/>
          </a:solidFill>
          <a:ln w="12700">
            <a:solidFill>
              <a:srgbClr val="272B2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71432" y="2542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9171432" y="33192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71432" y="4023360"/>
            <a:ext cx="22128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Engineering, homologation and 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and investment gates are funding-, partner-, and validation-dependent.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CAPITAL DISCIPLINE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PROOF. NOT BURN RATE.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2120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PHASE 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" y="2670048"/>
            <a:ext cx="6217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$2,500–$10,000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21208" y="3547872"/>
            <a:ext cx="5303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90-day safe personal budget range; spend in stages, not all at once.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9632" y="2057400"/>
            <a:ext cx="0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57984"/>
            <a:ext cx="5212080" cy="1124712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377440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PROOF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11112" y="2734056"/>
            <a:ext cx="4791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interviews, name clearance, cost model and supplier dialogues.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3493008"/>
            <a:ext cx="5212080" cy="1124712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371246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CAPITAL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11112" y="4069080"/>
            <a:ext cx="4791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partner funding or sponsorship before donor purchase.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4828032"/>
            <a:ext cx="5212080" cy="1124712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50474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FINANCING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11112" y="5404104"/>
            <a:ext cx="4791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multi-million-dollar engineering and industrialization program.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fundraising is currently offered by this document. Not an investment solicitation.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RISK REGISTER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PROVEN.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21208" y="2011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55264" y="2011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Achieving pricing targets with positive durable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21208" y="2606040"/>
            <a:ext cx="11082528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2788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55264" y="2788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an existing compliant automotive architecture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1208" y="3383280"/>
            <a:ext cx="11082528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3566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55264" y="3566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Safety, emissions, software, sales law and recall responsibilities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1208" y="4160520"/>
            <a:ext cx="11082528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4343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&amp; RIGHTS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55264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Trademark clearance and design/IP diligence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1208" y="4937760"/>
            <a:ext cx="11082528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CAPITAL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55264" y="5120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Qualified engineering leadership and financing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1208" y="5715000"/>
            <a:ext cx="11082528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AVEN_Studio_Launch/assets/brand-detail.webp">    </p:cNvPr>
          <p:cNvPicPr>
            <a:picLocks noChangeAspect="1"/>
          </p:cNvPicPr>
          <p:nvPr/>
        </p:nvPicPr>
        <p:blipFill>
          <a:blip r:embed="rId1"/>
          <a:srcRect l="0" r="0" t="12499" b="1249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>
              <a:alpha val="65000"/>
            </a:srgbClr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B0D0E">
              <a:alpha val="88000"/>
            </a:srgbClr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JOIN THE FEASIBILITY CONVERSATION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5216" y="1389888"/>
            <a:ext cx="73152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LET'S BUILD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21792" y="466344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Seeking manufacturing introductions, technical advisors, costed feasibility proposals and aligned early-stage strategic conversations.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Concept-stage discussion only. Company structure, brand clearance and specific financing terms require further work.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/ SOURCE AND ASSUMPTION NOTES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KNOWN. WHAT IS HYPOTHESIZED.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48640" y="2212848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057400"/>
            <a:ext cx="10762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references: SpaceX.com; LucidMotors.com; Slate.auto/en. Design inspiration only.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25496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670048"/>
            <a:ext cx="10762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HAVEN visuals: internal AI-generated concept sketches and renders, not production vehicles.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38144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282696"/>
            <a:ext cx="10762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model: HAVEN Platform &amp; Supplier Cost Model 2026 — hypothetical supplier-level allowances, no bids.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895344"/>
            <a:ext cx="10762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/ P1R targets: $17,990 and $129,990 aspirational delivered prices; feasibility unproven.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4507992"/>
            <a:ext cx="10762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OpenArchitecture: candidate nonstructural modular systems; safety-sensitive interfaces require validation.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276088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5120640"/>
            <a:ext cx="10762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active supplier contract, financing round, regulatory certification, customer order book or launch 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HAVEN Concept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HAVEN Motors | Investor Concept Deck | October 2026</dc:title>
  <dc:subject>Preliminary automotive design and venture feasibility; no verified manufacturing program</dc:subject>
  <dc:creator>HAVEN Concept Studio</dc:creator>
  <cp:lastModifiedBy>HAVEN Concept Studio</cp:lastModifiedBy>
  <cp:revision>1</cp:revision>
  <dcterms:created xsi:type="dcterms:W3CDTF">2026-10-10T16:58:39Z</dcterms:created>
  <dcterms:modified xsi:type="dcterms:W3CDTF">2026-10-10T16:58:39Z</dcterms:modified>
</cp:coreProperties>
</file>